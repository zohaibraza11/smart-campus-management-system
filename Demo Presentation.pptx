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Complexity Level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5F-4B86-8E97-1909D4DEE62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55F-4B86-8E97-1909D4DEE62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55F-4B86-8E97-1909D4DEE62E}"/>
              </c:ext>
            </c:extLst>
          </c:dPt>
          <c:dPt>
            <c:idx val="3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5F-4B86-8E97-1909D4DEE62E}"/>
              </c:ext>
            </c:extLst>
          </c:dPt>
          <c:dPt>
            <c:idx val="4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5F-4B86-8E97-1909D4DEE62E}"/>
              </c:ext>
            </c:extLst>
          </c:dPt>
          <c:dPt>
            <c:idx val="5"/>
            <c:invertIfNegative val="0"/>
            <c:bubble3D val="0"/>
            <c:spPr>
              <a:solidFill>
                <a:srgbClr val="884E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5F-4B86-8E97-1909D4DEE62E}"/>
              </c:ext>
            </c:extLst>
          </c:dPt>
          <c:dPt>
            <c:idx val="6"/>
            <c:invertIfNegative val="0"/>
            <c:bubble3D val="0"/>
            <c:spPr>
              <a:solidFill>
                <a:srgbClr val="A04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55F-4B86-8E97-1909D4DEE62E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55F-4B86-8E97-1909D4DEE62E}"/>
              </c:ext>
            </c:extLst>
          </c:dPt>
          <c:cat>
            <c:strRef>
              <c:f>Sheet1!$A$2:$A$9</c:f>
              <c:strCache>
                <c:ptCount val="8"/>
                <c:pt idx="0">
                  <c:v>Hash
Search</c:v>
                </c:pt>
                <c:pt idx="1">
                  <c:v>Stack
Push/Pop</c:v>
                </c:pt>
                <c:pt idx="2">
                  <c:v>Queue
Enq/Deq</c:v>
                </c:pt>
                <c:pt idx="3">
                  <c:v>BST
Search</c:v>
                </c:pt>
                <c:pt idx="4">
                  <c:v>Binary
Search</c:v>
                </c:pt>
                <c:pt idx="5">
                  <c:v>BFS/DFS</c:v>
                </c:pt>
                <c:pt idx="6">
                  <c:v>Dijkstra</c:v>
                </c:pt>
                <c:pt idx="7">
                  <c:v>Bubble
Sort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55F-4B86-8E97-1909D4DEE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2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8229600" cy="3657600"/>
          </a:xfrm>
          <a:prstGeom prst="rect">
            <a:avLst/>
          </a:prstGeom>
          <a:solidFill>
            <a:srgbClr val="111D2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Engineering and Technology — Lahore (KSK Campus)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Campus Management 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Integrated Data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50592"/>
            <a:ext cx="640080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2578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CSC-200L: Data Structures and Algorithms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871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871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Group Project (2 Students)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3163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31638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Lahore — KSK (New Campus)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CSC-200L  |  CCP Group Project  |  Data Structures and Algorithms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512064" cy="402336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896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71600"/>
            <a:ext cx="512064" cy="402336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3716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6 Modules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47088"/>
            <a:ext cx="512064" cy="402336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8470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Graph + Dijkstra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22576"/>
            <a:ext cx="512064" cy="402336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3225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Management: BST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98064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798064"/>
            <a:ext cx="512064" cy="402336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7980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Handling: Queue   |   History: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9611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896112"/>
            <a:ext cx="512064" cy="40233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896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Lookup: Hash Table (Prime + Tombstone)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1371600"/>
            <a:ext cx="512064" cy="40233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13716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84708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847088"/>
            <a:ext cx="512064" cy="40233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8470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Improvements &amp; Bug Fixes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322576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2322576"/>
            <a:ext cx="512064" cy="40233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23225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36576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shortest campus routes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location data efficiently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multiple user queries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undoing recent searches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O(1) lookups by location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views by name or distance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868680"/>
            <a:ext cx="429768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868680"/>
            <a:ext cx="4297680" cy="36576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2984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6 Data Structures from scratch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BFS / DFS for navigation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1993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for sorted location management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2340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FIFO request processing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2688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for undo / history tracking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3035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Table: O(1) lookup (prime size=31)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+ Binary Search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3730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 &amp; space complexity analysis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— Graph + Dijkstra's Algorithm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8046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Graph (20×20)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41148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3444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2344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 O(V²)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41148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642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6642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traversal: O(V+E)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093976"/>
            <a:ext cx="41148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9397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209397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explore: O(V+E)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23744"/>
            <a:ext cx="41148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2374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25237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 for adjacency matrix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95351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29535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DynArray — no overflow risk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749808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749808"/>
            <a:ext cx="4206240" cy="347472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UET KSK Campus Graph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56048" y="1453896"/>
            <a:ext cx="749808" cy="77724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164134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956048" y="2231136"/>
            <a:ext cx="749808" cy="73152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3957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705856" y="1453896"/>
            <a:ext cx="100584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2527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711696" y="1453896"/>
            <a:ext cx="100584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12527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711696" y="1453896"/>
            <a:ext cx="0" cy="150876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00710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705856" y="2962656"/>
            <a:ext cx="1005840" cy="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27614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11696" y="2962656"/>
            <a:ext cx="1005840" cy="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7614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7717536" y="2212848"/>
            <a:ext cx="502920" cy="749808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49540" y="238658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717536" y="1453896"/>
            <a:ext cx="502920" cy="75895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49540" y="163220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700016" y="1975104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22494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449824" y="1197864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1472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455664" y="1197864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1472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Dept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461504" y="1197864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1472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Labs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449824" y="270662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2980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Blk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455664" y="270662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2980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461504" y="270662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2980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Grd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964424" y="1956816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2231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Blk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754880" y="4526280"/>
            <a:ext cx="164592" cy="164592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336" y="4507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nodes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675120" y="4526280"/>
            <a:ext cx="164592" cy="164592"/>
          </a:xfrm>
          <a:prstGeom prst="ellipse">
            <a:avLst/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94576" y="45079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nodes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Adjacency matrix chosen for O(1) edge lookup (critical in Dijkstra). BFS uses DynArray queue — no fixed-size overflow.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Management — Binary Search Tree (BST)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8046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avg  |  O(n) worst (skewed)  |  Duplicate → updates graphId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8503920" cy="420624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2618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avg  |  O(n) worst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8503920" cy="420624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190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7190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avg  |  Handles all 3 cases (leaf, 1-child, 2-child)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76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Traversal: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1762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→  sorted alphabetical 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33472"/>
            <a:ext cx="8503920" cy="420624"/>
          </a:xfrm>
          <a:prstGeom prst="rect">
            <a:avLst/>
          </a:prstGeom>
          <a:solidFill>
            <a:srgbClr val="EBF9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334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6334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recursive destroy()  —  no memory leak on exit  ✓ FIXED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2918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Structure — In-order: Admin Blk, Cafeteria, Comp Labs, CS Dept, Hostel Blk, Library, Main Gate, Sports Grd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81728" y="3767328"/>
            <a:ext cx="0" cy="4114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3767328"/>
            <a:ext cx="2286000" cy="4114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4178808"/>
            <a:ext cx="0" cy="4114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4178808"/>
            <a:ext cx="914400" cy="4114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67728" y="4178808"/>
            <a:ext cx="0" cy="4114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95728" y="4590288"/>
            <a:ext cx="0" cy="1828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4590288"/>
            <a:ext cx="457200" cy="18288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3547872"/>
            <a:ext cx="237744" cy="23774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381304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090672" y="3959352"/>
            <a:ext cx="237744" cy="23774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2245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748272" y="3959352"/>
            <a:ext cx="237744" cy="23774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2245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176272" y="4370832"/>
            <a:ext cx="237744" cy="23774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46360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Dept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005072" y="4370832"/>
            <a:ext cx="237744" cy="23774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46360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833872" y="4370832"/>
            <a:ext cx="237744" cy="23774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46360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Labs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536192" y="4553712"/>
            <a:ext cx="237744" cy="23774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48188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633472" y="4553712"/>
            <a:ext cx="237744" cy="23774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48188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Maintains sorted order automatically; more dynamic than sorted array (no shifting needed). Destructor now frees all nodes.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&amp;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(FIFO — Request Handling)  +  Stack (LIFO — History &amp; Undo)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86968"/>
            <a:ext cx="4114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86968"/>
            <a:ext cx="4114800" cy="347472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Queue — Linked List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(add):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insert at rear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(process):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remove from front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450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2450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 First Out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no fixed limit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218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3218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front→next, frees 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383280"/>
            <a:ext cx="868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83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Library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52728" y="34564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980B9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89888" y="3383280"/>
            <a:ext cx="8686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9888" y="3383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Room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58568" y="34564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980B9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95728" y="3383280"/>
            <a:ext cx="8686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3383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Path?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64408" y="34564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980B9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01568" y="3383280"/>
            <a:ext cx="8686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383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Lab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3840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(process next)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0" y="3840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(last added)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17720" y="886968"/>
            <a:ext cx="4206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17720" y="886968"/>
            <a:ext cx="4206240" cy="347472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Stack — Linked List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0916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(record):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56832" y="1298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add to top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1682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(undo):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56832" y="168249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remove from top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066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56832" y="20665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2450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56832" y="24505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 First Out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56832" y="28346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no fixed limit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9160" y="32186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56832" y="32186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— frees all stack nodes 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291840"/>
            <a:ext cx="3931920" cy="301752"/>
          </a:xfrm>
          <a:prstGeom prst="rect">
            <a:avLst/>
          </a:prstGeom>
          <a:solidFill>
            <a:srgbClr val="E74C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29184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Searched: Cafeteria→Sports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3621024"/>
            <a:ext cx="3931920" cy="301752"/>
          </a:xfrm>
          <a:prstGeom prst="rect">
            <a:avLst/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62102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Searched: CS Dept→Cafe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3950208"/>
            <a:ext cx="3931920" cy="301752"/>
          </a:xfrm>
          <a:prstGeom prst="rect">
            <a:avLst/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95020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Searched: Library→CS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4279392"/>
            <a:ext cx="3931920" cy="301752"/>
          </a:xfrm>
          <a:prstGeom prst="rect">
            <a:avLst/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2793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Searched: Main→Library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09160" y="45994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(undo target)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Lookup — Hash Table (Prime Size + Tombstone Deletion)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solidFill>
            <a:srgbClr val="EBF9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8046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(prime — upgraded from 20 for better distribution)  ✓ FIXED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8503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070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20700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h(key) = Σ(key[i] × 31ⁱ) % 31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09344"/>
            <a:ext cx="85039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0934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16093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probing: probe = (h + i) % 31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8503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2011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— reuses DELETED tombstone slots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14016"/>
            <a:ext cx="85039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140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24140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— skips tombstones correctly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16352"/>
            <a:ext cx="8503920" cy="365760"/>
          </a:xfrm>
          <a:prstGeom prst="rect">
            <a:avLst/>
          </a:prstGeom>
          <a:solidFill>
            <a:srgbClr val="EBF9EE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163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28163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Tombstone-based (DELETED state, not EMPTY)  ✓ NEW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85039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18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3218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 ≈ 0.26  —  excellent performance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630168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3630168"/>
            <a:ext cx="8503920" cy="301752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Hash Table (size=31) — 8 Locations Stored  |  Load Factor: 0.26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[02]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Block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81328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1328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[05]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81328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481328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05456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05456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[07]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05456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Dept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505456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29584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[09]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29584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29584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53712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53712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53712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53712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77840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77840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Labs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77840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01968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01968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01968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Ground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601968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626096" y="4005072"/>
            <a:ext cx="960120" cy="749808"/>
          </a:xfrm>
          <a:prstGeom prst="rect">
            <a:avLst/>
          </a:prstGeom>
          <a:solidFill>
            <a:srgbClr val="EBF5F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6096" y="4023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26096" y="42336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Block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626096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 deletion: removed slots marked DELETED (not EMPTY) — ensures probing chain integrity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Complexity Analysis — All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Operation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(Adj Matrix 20×20)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Shortest 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0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/ DFS Traversal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84E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/ Insert /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(Linked List)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/ Dequeue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(Linked List)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 (Undo)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Lookup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 (size=31)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/ Insert / Delete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Array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365760" y="3383280"/>
          <a:ext cx="8412480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complexity (log scale) — lower is faster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 — Bugs Fixed &amp; Improvements Applied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4160520" cy="502920"/>
          </a:xfrm>
          <a:prstGeom prst="rect">
            <a:avLst/>
          </a:prstGeom>
          <a:solidFill>
            <a:srgbClr val="FDFEFE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6400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955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Memory Leak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Recursive destroy() added in ~LocationBST()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4160520" cy="502920"/>
          </a:xfrm>
          <a:prstGeom prst="rect">
            <a:avLst/>
          </a:prstGeom>
          <a:solidFill>
            <a:srgbClr val="FDFEFE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25880"/>
            <a:ext cx="6400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441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Memory Leak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5819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Destructor walks top→next, deletes all nodes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160520" cy="502920"/>
          </a:xfrm>
          <a:prstGeom prst="rect">
            <a:avLst/>
          </a:prstGeom>
          <a:solidFill>
            <a:srgbClr val="FDFEFE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6400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92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HashTable: No Deletion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1305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Tombstone (DELETED state) deletion added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4160520" cy="502920"/>
          </a:xfrm>
          <a:prstGeom prst="rect">
            <a:avLst/>
          </a:prstGeom>
          <a:solidFill>
            <a:srgbClr val="FDFEFE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6400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414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DynArray Rule of Three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6791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constructor + copy assignment implemented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160520" cy="502920"/>
          </a:xfrm>
          <a:prstGeom prst="rect">
            <a:avLst/>
          </a:prstGeom>
          <a:solidFill>
            <a:srgbClr val="FEFEF5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7180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900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Queue Overflow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2278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int[MAXN] replaced with DynArray&lt;int&gt;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4160520" cy="502920"/>
          </a:xfrm>
          <a:prstGeom prst="rect">
            <a:avLst/>
          </a:prstGeom>
          <a:solidFill>
            <a:srgbClr val="FEFEF5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2044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387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Int Overflow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776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Overflow-safe guard before dist[u]+adj[u][v]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777240"/>
            <a:ext cx="4160520" cy="502920"/>
          </a:xfrm>
          <a:prstGeom prst="rect">
            <a:avLst/>
          </a:prstGeom>
          <a:solidFill>
            <a:srgbClr val="FEFEF5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77724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7955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pause() Double-Ignore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1033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peek() check before ignore(); single consume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1325880"/>
            <a:ext cx="4160520" cy="502920"/>
          </a:xfrm>
          <a:prstGeom prst="rect">
            <a:avLst/>
          </a:prstGeom>
          <a:solidFill>
            <a:srgbClr val="FEFEF5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32588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3441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sortMenu Input Flow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15819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cin.ignore() moved inside ch==3 branch only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1874520"/>
            <a:ext cx="4160520" cy="502920"/>
          </a:xfrm>
          <a:prstGeom prst="rect">
            <a:avLst/>
          </a:prstGeom>
          <a:solidFill>
            <a:srgbClr val="F0FFF4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187452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892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21305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getInt() + bounds checks on every node ID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2423160"/>
            <a:ext cx="4160520" cy="502920"/>
          </a:xfrm>
          <a:prstGeom prst="rect">
            <a:avLst/>
          </a:prstGeom>
          <a:solidFill>
            <a:srgbClr val="F0FFF4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0" y="242316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4414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 Size Not Prime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26791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HTSIZE: 20 → 31 (prime, better distribution)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2971800"/>
            <a:ext cx="4160520" cy="502920"/>
          </a:xfrm>
          <a:prstGeom prst="rect">
            <a:avLst/>
          </a:prstGeom>
          <a:solidFill>
            <a:srgbClr val="F0FFF4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297180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9900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32278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dijkstra, bfs, dfs, search all marked const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3520440"/>
            <a:ext cx="4160520" cy="502920"/>
          </a:xfrm>
          <a:prstGeom prst="rect">
            <a:avLst/>
          </a:prstGeom>
          <a:solidFill>
            <a:srgbClr val="F0FFF4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0" y="352044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5387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Duplicate Insert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09160" y="3776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Duplicate key now updates graphId (upsert)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5895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58952"/>
            <a:ext cx="4114800" cy="347472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correct shortest paths — all node pairs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in-order → correct alphabetical output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FIFO order maintained correctly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undo: reversed last action correctly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table: all 8 locations O(1), tombstone deletion works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Sorting: name &amp; distance order both correct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memory leaks after destructor fixes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invalid inputs handled gracefully 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58952"/>
            <a:ext cx="4251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758952"/>
            <a:ext cx="4251960" cy="347472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data structures implemented from scratch — no STL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DS matched precisely to module needs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883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memory leaks eliminated (BST, Stack, DynArray)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231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 trade-offs identified: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578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Hash Table: fastest O(1) but unordered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BST: sorted output, dynamic, O(log 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2735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Graph: O(1) edge check — critical for Dijkstra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6210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Queue/Stack: O(1) dynamic ops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39684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single DS wins for all tasks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43159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Codebase now production-quality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188720"/>
            <a:ext cx="5852160" cy="26517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4173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2212848"/>
            <a:ext cx="365760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331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Management System  |  CSC-200L CCP  |  UET Lahore KSK Campus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1430</Words>
  <Application>Microsoft Office PowerPoint</Application>
  <PresentationFormat>On-screen Show (16:9)</PresentationFormat>
  <Paragraphs>294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Management System — Revised</dc:title>
  <dc:subject>PptxGenJS Presentation</dc:subject>
  <dc:creator>PptxGenJS</dc:creator>
  <cp:lastModifiedBy>Zohaib Raza</cp:lastModifiedBy>
  <cp:revision>2</cp:revision>
  <dcterms:created xsi:type="dcterms:W3CDTF">2026-06-06T18:09:11Z</dcterms:created>
  <dcterms:modified xsi:type="dcterms:W3CDTF">2026-06-06T19:03:49Z</dcterms:modified>
</cp:coreProperties>
</file>